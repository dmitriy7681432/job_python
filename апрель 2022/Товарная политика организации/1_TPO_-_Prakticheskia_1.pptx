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4" r:id="rId3"/>
    <p:sldId id="257" r:id="rId4"/>
    <p:sldId id="281" r:id="rId5"/>
    <p:sldId id="258" r:id="rId6"/>
    <p:sldId id="283" r:id="rId7"/>
    <p:sldId id="264" r:id="rId8"/>
    <p:sldId id="282" r:id="rId9"/>
    <p:sldId id="265" r:id="rId10"/>
    <p:sldId id="274" r:id="rId11"/>
    <p:sldId id="273" r:id="rId12"/>
    <p:sldId id="270" r:id="rId13"/>
    <p:sldId id="271" r:id="rId14"/>
    <p:sldId id="275" r:id="rId15"/>
    <p:sldId id="276" r:id="rId16"/>
    <p:sldId id="277" r:id="rId17"/>
    <p:sldId id="278" r:id="rId18"/>
    <p:sldId id="279" r:id="rId19"/>
    <p:sldId id="280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17" autoAdjust="0"/>
  </p:normalViewPr>
  <p:slideViewPr>
    <p:cSldViewPr>
      <p:cViewPr varScale="1">
        <p:scale>
          <a:sx n="100" d="100"/>
          <a:sy n="100" d="100"/>
        </p:scale>
        <p:origin x="-2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5" name="Подзаголовок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1" name="Дата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18" name="Нижний колонтитул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1" name="Текст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7" name="Дата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630DE7B3-5F04-4C2B-8B33-98E4A4D29F83}" type="datetimeFigureOut">
              <a:rPr lang="ru-RU" smtClean="0"/>
              <a:pPr/>
              <a:t>01.03.2021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BB3F255-3864-4090-9395-8215DE15F16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059832" y="476672"/>
            <a:ext cx="6084168" cy="2823544"/>
          </a:xfrm>
        </p:spPr>
        <p:txBody>
          <a:bodyPr/>
          <a:lstStyle/>
          <a:p>
            <a:r>
              <a:rPr lang="ru-RU" sz="2000" dirty="0" err="1" smtClean="0"/>
              <a:t>доц.Хамидова</a:t>
            </a:r>
            <a:r>
              <a:rPr lang="ru-RU" sz="2000" dirty="0" smtClean="0"/>
              <a:t> О.М.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2800" dirty="0" smtClean="0"/>
              <a:t>Товарная политика организации</a:t>
            </a:r>
            <a:endParaRPr lang="ru-RU" sz="2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75856" y="3789040"/>
            <a:ext cx="5114778" cy="1656184"/>
          </a:xfrm>
        </p:spPr>
        <p:txBody>
          <a:bodyPr>
            <a:noAutofit/>
          </a:bodyPr>
          <a:lstStyle/>
          <a:p>
            <a:pPr algn="l"/>
            <a:r>
              <a:rPr lang="ru-RU" sz="2400" b="1" u="sng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Практика </a:t>
            </a:r>
            <a:r>
              <a:rPr lang="ru-RU" sz="2400" b="1" u="sng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1Основные категории продуктовой (товарной) политики</a:t>
            </a:r>
            <a:endParaRPr lang="ru-RU" sz="2400" b="1" u="sng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ru-RU" sz="24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Продолжительность занятия 2 часа</a:t>
            </a:r>
          </a:p>
          <a:p>
            <a:pPr algn="l"/>
            <a:endParaRPr lang="ru-RU" sz="2400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ru-RU" sz="24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Цель: </a:t>
            </a:r>
            <a:r>
              <a:rPr lang="ru-RU" sz="2400" i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Овладение знаниями об основных категориях товарной политики и их сущности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68760"/>
            <a:ext cx="7956376" cy="5186976"/>
          </a:xfrm>
        </p:spPr>
        <p:txBody>
          <a:bodyPr/>
          <a:lstStyle/>
          <a:p>
            <a:pPr>
              <a:buNone/>
            </a:pPr>
            <a:r>
              <a:rPr lang="ru-RU" b="1" i="1" dirty="0" smtClean="0"/>
              <a:t>1. Самостоятельно изучаем/</a:t>
            </a:r>
            <a:r>
              <a:rPr lang="ru-RU" b="1" i="1" dirty="0" err="1" smtClean="0"/>
              <a:t>обсуждоем</a:t>
            </a:r>
            <a:r>
              <a:rPr lang="ru-RU" b="1" i="1" dirty="0" smtClean="0"/>
              <a:t>/записываем (30 мин)</a:t>
            </a:r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1.1 Нужда- потребность- запрос, выраженные в конкретных товарах/услугах</a:t>
            </a:r>
          </a:p>
          <a:p>
            <a:r>
              <a:rPr lang="ru-RU" dirty="0" smtClean="0"/>
              <a:t>1.2Товарное распределение по рыночным уровням и отраслям</a:t>
            </a:r>
          </a:p>
          <a:p>
            <a:r>
              <a:rPr lang="ru-RU" dirty="0" smtClean="0"/>
              <a:t>1.3 Формирование конкуренции на рынках разных типов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7239000" cy="43204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Задание 1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179512" y="404664"/>
            <a:ext cx="7704856" cy="576064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Определить, какие нужды и потребности удовлетворяются,  согласно пирамиде </a:t>
            </a:r>
            <a:r>
              <a:rPr lang="ru-RU" sz="2400" dirty="0" err="1" smtClean="0"/>
              <a:t>А.Маслоу</a:t>
            </a:r>
            <a:r>
              <a:rPr lang="ru-RU" sz="2400" dirty="0" smtClean="0"/>
              <a:t> по </a:t>
            </a:r>
            <a:r>
              <a:rPr lang="ru-RU" sz="2800" i="1" u="sng" dirty="0" smtClean="0"/>
              <a:t>поведению</a:t>
            </a:r>
            <a:r>
              <a:rPr lang="ru-RU" sz="2800" u="sng" dirty="0" smtClean="0"/>
              <a:t>:</a:t>
            </a:r>
          </a:p>
          <a:p>
            <a:r>
              <a:rPr lang="ru-RU" sz="2000" dirty="0" smtClean="0"/>
              <a:t>Фотографируем, размещаем в с/сетях</a:t>
            </a:r>
          </a:p>
          <a:p>
            <a:r>
              <a:rPr lang="ru-RU" sz="2000" dirty="0" smtClean="0"/>
              <a:t>Фотографируем для продажи (фото, реклама, товары)</a:t>
            </a:r>
          </a:p>
          <a:p>
            <a:r>
              <a:rPr lang="ru-RU" sz="2000" dirty="0" smtClean="0"/>
              <a:t>Фотографируем семейные события для себя (тайно)</a:t>
            </a:r>
          </a:p>
          <a:p>
            <a:r>
              <a:rPr lang="ru-RU" sz="2000" dirty="0" smtClean="0"/>
              <a:t>Покупаем </a:t>
            </a:r>
            <a:r>
              <a:rPr lang="ru-RU" sz="2000" dirty="0" err="1" smtClean="0"/>
              <a:t>шаурму</a:t>
            </a:r>
            <a:endParaRPr lang="ru-RU" sz="2000" dirty="0" smtClean="0"/>
          </a:p>
          <a:p>
            <a:r>
              <a:rPr lang="ru-RU" sz="2000" dirty="0" smtClean="0"/>
              <a:t>Приглашаем на шашлык</a:t>
            </a:r>
          </a:p>
          <a:p>
            <a:r>
              <a:rPr lang="ru-RU" sz="2000" dirty="0" smtClean="0"/>
              <a:t>Приглашение на свидание в ресторан</a:t>
            </a:r>
          </a:p>
          <a:p>
            <a:r>
              <a:rPr lang="ru-RU" sz="2000" dirty="0" smtClean="0"/>
              <a:t>Покупаем квартиру</a:t>
            </a:r>
          </a:p>
          <a:p>
            <a:r>
              <a:rPr lang="ru-RU" sz="2000" dirty="0" smtClean="0"/>
              <a:t>Делаем ремонт, меняем двери</a:t>
            </a:r>
          </a:p>
          <a:p>
            <a:r>
              <a:rPr lang="ru-RU" sz="2000" dirty="0" smtClean="0"/>
              <a:t>Едем в Турцию (фото, страховка, купальник, билет..)</a:t>
            </a:r>
          </a:p>
          <a:p>
            <a:r>
              <a:rPr lang="ru-RU" sz="2000" dirty="0" smtClean="0"/>
              <a:t>Духи, косметика, автомобиль, джинсы, телефон</a:t>
            </a:r>
          </a:p>
          <a:p>
            <a:r>
              <a:rPr lang="ru-RU" sz="2000" dirty="0" smtClean="0"/>
              <a:t>Благотворительные акции, </a:t>
            </a:r>
            <a:r>
              <a:rPr lang="ru-RU" sz="2000" dirty="0" err="1" smtClean="0"/>
              <a:t>самостройка</a:t>
            </a:r>
            <a:r>
              <a:rPr lang="ru-RU" sz="2000" dirty="0" smtClean="0"/>
              <a:t>, </a:t>
            </a:r>
            <a:r>
              <a:rPr lang="ru-RU" sz="2000" dirty="0" err="1" smtClean="0"/>
              <a:t>саморемонт</a:t>
            </a:r>
            <a:r>
              <a:rPr lang="ru-RU" sz="2000" dirty="0" smtClean="0"/>
              <a:t> помещения</a:t>
            </a:r>
          </a:p>
          <a:p>
            <a:endParaRPr lang="ru-RU" sz="2000" dirty="0" smtClean="0"/>
          </a:p>
          <a:p>
            <a:endParaRPr lang="ru-RU" sz="2000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60688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7239000" cy="4608512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Разделитесь на группы и сформируйте комплекс товаров (услуг) удовлетворяющих одну из потребностей</a:t>
            </a:r>
          </a:p>
          <a:p>
            <a:r>
              <a:rPr lang="ru-RU" dirty="0" smtClean="0"/>
              <a:t>Сон, секс, голод, жажда, экскреция</a:t>
            </a:r>
          </a:p>
          <a:p>
            <a:r>
              <a:rPr lang="ru-RU" dirty="0" smtClean="0"/>
              <a:t>Безопасность</a:t>
            </a:r>
          </a:p>
          <a:p>
            <a:r>
              <a:rPr lang="ru-RU" dirty="0" smtClean="0"/>
              <a:t>Общение, коммуникация, вхождение в группу</a:t>
            </a:r>
          </a:p>
          <a:p>
            <a:r>
              <a:rPr lang="ru-RU" dirty="0" smtClean="0"/>
              <a:t>Признание группой заслуг, преимуществ</a:t>
            </a:r>
          </a:p>
          <a:p>
            <a:r>
              <a:rPr lang="ru-RU" dirty="0" smtClean="0"/>
              <a:t>Творчество, самореализация, работа для общества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https://mar4enko.com/images/piramida-standart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0214" y="404664"/>
            <a:ext cx="6472972" cy="6051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44466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Задание 3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7239000" cy="4104456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Соедините </a:t>
            </a:r>
            <a:r>
              <a:rPr lang="ru-RU" smtClean="0"/>
              <a:t>несколько потребностей в </a:t>
            </a:r>
            <a:r>
              <a:rPr lang="ru-RU" dirty="0" smtClean="0"/>
              <a:t>концепте одного товара:</a:t>
            </a:r>
          </a:p>
          <a:p>
            <a:r>
              <a:rPr lang="ru-RU" dirty="0" smtClean="0"/>
              <a:t>Сон, секс, голод, жажда, экскреция</a:t>
            </a:r>
          </a:p>
          <a:p>
            <a:r>
              <a:rPr lang="ru-RU" dirty="0" smtClean="0"/>
              <a:t>Безопасность</a:t>
            </a:r>
          </a:p>
          <a:p>
            <a:r>
              <a:rPr lang="ru-RU" dirty="0" smtClean="0"/>
              <a:t>Общение, коммуникация, вхождение в группу</a:t>
            </a:r>
          </a:p>
          <a:p>
            <a:r>
              <a:rPr lang="ru-RU" dirty="0" smtClean="0"/>
              <a:t>Признание группой заслуг, преимуществ</a:t>
            </a:r>
          </a:p>
          <a:p>
            <a:r>
              <a:rPr lang="ru-RU" dirty="0" smtClean="0"/>
              <a:t>Творчество, самореализация, работа для общества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s://studfiles.net/html/2706/558/html_5GM8XXhQNx.r76P/img-0IY65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4902"/>
            <a:ext cx="8100392" cy="6452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7239000" cy="50405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Задание 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7239000" cy="5619024"/>
          </a:xfrm>
        </p:spPr>
        <p:txBody>
          <a:bodyPr/>
          <a:lstStyle/>
          <a:p>
            <a:r>
              <a:rPr lang="ru-RU" dirty="0" smtClean="0"/>
              <a:t>Назовите товары, которые удовлетворяю ваши потребности частично (не полностью)!</a:t>
            </a:r>
          </a:p>
          <a:p>
            <a:r>
              <a:rPr lang="ru-RU" dirty="0" smtClean="0"/>
              <a:t>Придумайте товары с оригинальными свойствами по методу 3-х уровневой модели товара: </a:t>
            </a:r>
            <a:r>
              <a:rPr lang="ru-RU" i="1" dirty="0" smtClean="0"/>
              <a:t>основная идея, модификации, форма, уровень качества, позиция-имя, упаковка, обещание сервиса, лояльность.</a:t>
            </a:r>
            <a:endParaRPr lang="ru-RU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88640"/>
            <a:ext cx="7239000" cy="1224136"/>
          </a:xfrm>
        </p:spPr>
        <p:txBody>
          <a:bodyPr>
            <a:normAutofit/>
          </a:bodyPr>
          <a:lstStyle/>
          <a:p>
            <a:r>
              <a:rPr lang="ru-RU" sz="1400" i="1" dirty="0" smtClean="0"/>
              <a:t>Товар –все, что может удовлетворить потребность и предлагается рынку с целью привлечения внимания, приобретения, использования или потребления. </a:t>
            </a:r>
            <a:endParaRPr lang="ru-RU" sz="1400" b="1" dirty="0" smtClean="0"/>
          </a:p>
          <a:p>
            <a:endParaRPr lang="ru-RU" dirty="0"/>
          </a:p>
        </p:txBody>
      </p:sp>
      <p:pic>
        <p:nvPicPr>
          <p:cNvPr id="5" name="Рисунок 4" descr="https://cf.ppt-online.org/files/slide/g/GDQKugthzk1R2MoTO3xNfcpHWn6Zr5UIjFsACd/slide-48.jpg"/>
          <p:cNvPicPr/>
          <p:nvPr/>
        </p:nvPicPr>
        <p:blipFill>
          <a:blip r:embed="rId2" cstate="print"/>
          <a:srcRect l="4623" t="35190" r="4669"/>
          <a:stretch>
            <a:fillRect/>
          </a:stretch>
        </p:blipFill>
        <p:spPr bwMode="auto">
          <a:xfrm>
            <a:off x="827584" y="1268760"/>
            <a:ext cx="6624736" cy="48965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444664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Совершенная (свободная) конкуренция - </a:t>
            </a:r>
            <a:endParaRPr lang="ru-RU" sz="2400" dirty="0"/>
          </a:p>
        </p:txBody>
      </p:sp>
      <p:pic>
        <p:nvPicPr>
          <p:cNvPr id="4" name="Содержимое 3" descr="http://900igr.net/up/datas/71330/011.jpg"/>
          <p:cNvPicPr>
            <a:picLocks noGrp="1"/>
          </p:cNvPicPr>
          <p:nvPr>
            <p:ph idx="1"/>
          </p:nvPr>
        </p:nvPicPr>
        <p:blipFill>
          <a:blip r:embed="rId2" cstate="print"/>
          <a:srcRect l="4902" t="15287" r="4902" b="7105"/>
          <a:stretch>
            <a:fillRect/>
          </a:stretch>
        </p:blipFill>
        <p:spPr bwMode="auto">
          <a:xfrm>
            <a:off x="457200" y="1697279"/>
            <a:ext cx="7239000" cy="467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372656"/>
          </a:xfrm>
        </p:spPr>
        <p:txBody>
          <a:bodyPr>
            <a:normAutofit/>
          </a:bodyPr>
          <a:lstStyle/>
          <a:p>
            <a:pPr algn="ctr"/>
            <a:r>
              <a:rPr lang="ru-RU" sz="2400" b="0" u="sng" dirty="0" smtClean="0"/>
              <a:t>Черты совершенной конкуренции</a:t>
            </a:r>
            <a:endParaRPr lang="ru-RU" sz="2400" b="0" u="sng" dirty="0"/>
          </a:p>
        </p:txBody>
      </p:sp>
      <p:pic>
        <p:nvPicPr>
          <p:cNvPr id="4" name="Содержимое 3" descr="http://900igr.net/up/datas/157841/007.jpg"/>
          <p:cNvPicPr>
            <a:picLocks noGrp="1"/>
          </p:cNvPicPr>
          <p:nvPr>
            <p:ph idx="1"/>
          </p:nvPr>
        </p:nvPicPr>
        <p:blipFill>
          <a:blip r:embed="rId2" cstate="print"/>
          <a:srcRect l="2912" t="37731" r="4419" b="5222"/>
          <a:stretch>
            <a:fillRect/>
          </a:stretch>
        </p:blipFill>
        <p:spPr bwMode="auto">
          <a:xfrm>
            <a:off x="395536" y="692696"/>
            <a:ext cx="7239000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http://optionsobzor.com/sites/default/files/uploads/1_10.jpg"/>
          <p:cNvPicPr/>
          <p:nvPr/>
        </p:nvPicPr>
        <p:blipFill>
          <a:blip r:embed="rId3" cstate="print"/>
          <a:srcRect l="4131" t="8649" r="5002" b="12383"/>
          <a:stretch>
            <a:fillRect/>
          </a:stretch>
        </p:blipFill>
        <p:spPr bwMode="auto">
          <a:xfrm>
            <a:off x="755576" y="2204864"/>
            <a:ext cx="6840760" cy="438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Монополия -</a:t>
            </a:r>
            <a:endParaRPr lang="ru-RU" dirty="0"/>
          </a:p>
        </p:txBody>
      </p:sp>
      <p:pic>
        <p:nvPicPr>
          <p:cNvPr id="4" name="Содержимое 3" descr="https://ds02.infourok.ru/uploads/ex/031a/0000d9f1-e826fec7/img17.jpg"/>
          <p:cNvPicPr>
            <a:picLocks noGrp="1"/>
          </p:cNvPicPr>
          <p:nvPr>
            <p:ph idx="1"/>
          </p:nvPr>
        </p:nvPicPr>
        <p:blipFill>
          <a:blip r:embed="rId2" cstate="print"/>
          <a:srcRect l="5955" t="17472" r="4288" b="11619"/>
          <a:stretch>
            <a:fillRect/>
          </a:stretch>
        </p:blipFill>
        <p:spPr>
          <a:xfrm>
            <a:off x="457200" y="1888461"/>
            <a:ext cx="7239000" cy="4289166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372656"/>
          </a:xfrm>
        </p:spPr>
        <p:txBody>
          <a:bodyPr>
            <a:normAutofit/>
          </a:bodyPr>
          <a:lstStyle/>
          <a:p>
            <a:pPr algn="ctr"/>
            <a:r>
              <a:rPr lang="ru-RU" sz="2400" b="0" u="sng" dirty="0" smtClean="0"/>
              <a:t>Черты монополии</a:t>
            </a:r>
            <a:endParaRPr lang="ru-RU" sz="2400" dirty="0"/>
          </a:p>
        </p:txBody>
      </p:sp>
      <p:pic>
        <p:nvPicPr>
          <p:cNvPr id="4" name="Содержимое 3" descr="https://cf.ppt-online.org/files/slide/d/dDUO8twLpF34HmaYl5EGrMyCzjQoP67Bfb10Wv/slide-30.jpg"/>
          <p:cNvPicPr>
            <a:picLocks noGrp="1"/>
          </p:cNvPicPr>
          <p:nvPr>
            <p:ph idx="1"/>
          </p:nvPr>
        </p:nvPicPr>
        <p:blipFill>
          <a:blip r:embed="rId2" cstate="print"/>
          <a:srcRect l="5386" t="19900" r="6528" b="27216"/>
          <a:stretch>
            <a:fillRect/>
          </a:stretch>
        </p:blipFill>
        <p:spPr bwMode="auto">
          <a:xfrm>
            <a:off x="611560" y="620688"/>
            <a:ext cx="6840760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2" name="Picture 2" descr="https://myslide.ru/documents_3/a8c14e5cea4086be57a0b40d6a6f44be/img1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420888"/>
            <a:ext cx="7056784" cy="41128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Олигополия</a:t>
            </a:r>
            <a:endParaRPr lang="ru-RU" dirty="0"/>
          </a:p>
        </p:txBody>
      </p:sp>
      <p:pic>
        <p:nvPicPr>
          <p:cNvPr id="4" name="Содержимое 3" descr="http://images.myshared.ru/6/650942/slide_36.jpg"/>
          <p:cNvPicPr>
            <a:picLocks noGrp="1"/>
          </p:cNvPicPr>
          <p:nvPr>
            <p:ph idx="1"/>
          </p:nvPr>
        </p:nvPicPr>
        <p:blipFill>
          <a:blip r:embed="rId2" cstate="print"/>
          <a:srcRect l="7098" t="20253" r="6659" b="6557"/>
          <a:stretch>
            <a:fillRect/>
          </a:stretch>
        </p:blipFill>
        <p:spPr bwMode="auto">
          <a:xfrm>
            <a:off x="457200" y="1729281"/>
            <a:ext cx="7239000" cy="46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372656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Черты олигополии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764704"/>
            <a:ext cx="7239000" cy="1747576"/>
          </a:xfrm>
        </p:spPr>
        <p:txBody>
          <a:bodyPr>
            <a:normAutofit fontScale="47500" lnSpcReduction="20000"/>
          </a:bodyPr>
          <a:lstStyle/>
          <a:p>
            <a:r>
              <a:rPr lang="ru-RU" sz="2500" dirty="0" smtClean="0"/>
              <a:t>на рынке действует небольшое число крупных фирм (формально это 3-5 крупных фирмы занимающие более 50% рынка). </a:t>
            </a:r>
          </a:p>
          <a:p>
            <a:r>
              <a:rPr lang="ru-RU" sz="2500" dirty="0" smtClean="0"/>
              <a:t>- чаще всего это фирмы выпускающие стандартные продукты: цемент,  газ, бензин или дифференцированное автомобилестроение;</a:t>
            </a:r>
          </a:p>
          <a:p>
            <a:r>
              <a:rPr lang="ru-RU" sz="2500" dirty="0" smtClean="0"/>
              <a:t>- но иногда это фирмы с дифференцированным по качеству и ценам ассортиментом (крепкие напитки, шампанизированные вина, коньяки)</a:t>
            </a:r>
          </a:p>
          <a:p>
            <a:r>
              <a:rPr lang="ru-RU" sz="2500" dirty="0" smtClean="0"/>
              <a:t>- фирмы </a:t>
            </a:r>
            <a:r>
              <a:rPr lang="ru-RU" sz="2500" dirty="0" err="1" smtClean="0"/>
              <a:t>олигополисты</a:t>
            </a:r>
            <a:r>
              <a:rPr lang="ru-RU" sz="2500" dirty="0" smtClean="0"/>
              <a:t> обладают высокой степенью контроля над рынком</a:t>
            </a:r>
          </a:p>
          <a:p>
            <a:r>
              <a:rPr lang="ru-RU" sz="2500" dirty="0" smtClean="0"/>
              <a:t>- они часто вступают в сговор фиксируя высокую цену и низкий уровень качества </a:t>
            </a:r>
          </a:p>
          <a:p>
            <a:endParaRPr lang="ru-RU" dirty="0"/>
          </a:p>
        </p:txBody>
      </p:sp>
      <p:pic>
        <p:nvPicPr>
          <p:cNvPr id="6" name="Рисунок 5" descr="http://www.swlearning.com/economics/cebula/images/F02_movie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492896"/>
            <a:ext cx="6768752" cy="3551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444664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Монополистическая конкуренция</a:t>
            </a:r>
            <a:endParaRPr lang="ru-RU" sz="2400" dirty="0"/>
          </a:p>
        </p:txBody>
      </p:sp>
      <p:pic>
        <p:nvPicPr>
          <p:cNvPr id="5" name="Содержимое 4" descr="http://economic-definition.com/images/604651544.jpg"/>
          <p:cNvPicPr>
            <a:picLocks noGrp="1"/>
          </p:cNvPicPr>
          <p:nvPr>
            <p:ph idx="1"/>
          </p:nvPr>
        </p:nvPicPr>
        <p:blipFill>
          <a:blip r:embed="rId2" cstate="print"/>
          <a:srcRect l="6337" t="21267" r="5587" b="5543"/>
          <a:stretch>
            <a:fillRect/>
          </a:stretch>
        </p:blipFill>
        <p:spPr bwMode="auto">
          <a:xfrm>
            <a:off x="755576" y="1052736"/>
            <a:ext cx="6480720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7239000" cy="372656"/>
          </a:xfrm>
        </p:spPr>
        <p:txBody>
          <a:bodyPr>
            <a:normAutofit/>
          </a:bodyPr>
          <a:lstStyle/>
          <a:p>
            <a:pPr algn="ctr"/>
            <a:r>
              <a:rPr lang="ru-RU" sz="2000" u="sng" dirty="0" smtClean="0"/>
              <a:t>Черты Монополистической конкуренции</a:t>
            </a:r>
            <a:endParaRPr lang="ru-RU" sz="2000" u="sng" dirty="0"/>
          </a:p>
        </p:txBody>
      </p:sp>
      <p:pic>
        <p:nvPicPr>
          <p:cNvPr id="4" name="Содержимое 3" descr="http://mypresentation.ru/documents/3f2a68d298908c945439cd0cd67b4a38/img18.jpg"/>
          <p:cNvPicPr>
            <a:picLocks noGrp="1"/>
          </p:cNvPicPr>
          <p:nvPr>
            <p:ph idx="1"/>
          </p:nvPr>
        </p:nvPicPr>
        <p:blipFill>
          <a:blip r:embed="rId2" cstate="print"/>
          <a:srcRect l="7103" t="27792" r="13516" b="20844"/>
          <a:stretch>
            <a:fillRect/>
          </a:stretch>
        </p:blipFill>
        <p:spPr bwMode="auto">
          <a:xfrm>
            <a:off x="971600" y="404664"/>
            <a:ext cx="6408712" cy="1440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 descr="https://www.metod-kopilka.ru/images/doc/44/39140/img29.jpg"/>
          <p:cNvPicPr/>
          <p:nvPr/>
        </p:nvPicPr>
        <p:blipFill>
          <a:blip r:embed="rId3" cstate="print"/>
          <a:srcRect l="7195" t="9876" r="50900" b="7574"/>
          <a:stretch>
            <a:fillRect/>
          </a:stretch>
        </p:blipFill>
        <p:spPr bwMode="auto">
          <a:xfrm>
            <a:off x="899592" y="1844824"/>
            <a:ext cx="6336704" cy="501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908720"/>
            <a:ext cx="7239000" cy="4067944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accent5">
                    <a:lumMod val="50000"/>
                  </a:schemeClr>
                </a:solidFill>
              </a:rPr>
              <a:t>Маркетинг это наука о потребностях рынка, способах их исследования,  удовлетворения и формирования с целью получения определенной выгоды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32656"/>
            <a:ext cx="7239000" cy="6123080"/>
          </a:xfrm>
        </p:spPr>
        <p:txBody>
          <a:bodyPr/>
          <a:lstStyle/>
          <a:p>
            <a:pPr>
              <a:buNone/>
            </a:pP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r>
              <a:rPr lang="ru-RU" dirty="0" smtClean="0">
                <a:solidFill>
                  <a:schemeClr val="accent5">
                    <a:lumMod val="50000"/>
                  </a:schemeClr>
                </a:solidFill>
              </a:rPr>
              <a:t>Спасибо за внимание!</a:t>
            </a:r>
          </a:p>
          <a:p>
            <a:pPr>
              <a:buNone/>
            </a:pP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endParaRPr lang="ru-RU" dirty="0" smtClean="0">
              <a:solidFill>
                <a:schemeClr val="accent5">
                  <a:lumMod val="50000"/>
                </a:schemeClr>
              </a:solidFill>
            </a:endParaRPr>
          </a:p>
          <a:p>
            <a:endParaRPr lang="ru-RU" dirty="0"/>
          </a:p>
        </p:txBody>
      </p:sp>
      <p:pic>
        <p:nvPicPr>
          <p:cNvPr id="34818" name="Picture 2" descr="http://images.easyfreeclipart.com/333/smiley-face-with-nerd-glasses-round-stickers--33326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836712"/>
            <a:ext cx="4032448" cy="40127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зящная">
  <a:themeElements>
    <a:clrScheme name="Изящная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Изящная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Изящная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</TotalTime>
  <Words>417</Words>
  <Application>Microsoft Office PowerPoint</Application>
  <PresentationFormat>Экран (4:3)</PresentationFormat>
  <Paragraphs>68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Изящная</vt:lpstr>
      <vt:lpstr>доц.Хамидова О.М. Товарная политика организации</vt:lpstr>
      <vt:lpstr>Слайд 2</vt:lpstr>
      <vt:lpstr>Задание 1</vt:lpstr>
      <vt:lpstr>Задание 2</vt:lpstr>
      <vt:lpstr>Слайд 5</vt:lpstr>
      <vt:lpstr>Задание 3 </vt:lpstr>
      <vt:lpstr>Слайд 7</vt:lpstr>
      <vt:lpstr>Задание 4</vt:lpstr>
      <vt:lpstr>Слайд 9</vt:lpstr>
      <vt:lpstr>Совершенная (свободная) конкуренция - </vt:lpstr>
      <vt:lpstr>Черты совершенной конкуренции</vt:lpstr>
      <vt:lpstr>Монополия -</vt:lpstr>
      <vt:lpstr>Черты монополии</vt:lpstr>
      <vt:lpstr>Олигополия</vt:lpstr>
      <vt:lpstr>Черты олигополии</vt:lpstr>
      <vt:lpstr>Монополистическая конкуренция</vt:lpstr>
      <vt:lpstr>Черты Монополистической конкуренции</vt:lpstr>
      <vt:lpstr>Маркетинг это наука о потребностях рынка, способах их исследования,  удовлетворения и формирования с целью получения определенной выгоды </vt:lpstr>
      <vt:lpstr>Слайд 19</vt:lpstr>
    </vt:vector>
  </TitlesOfParts>
  <Company>Private person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admin</dc:creator>
  <cp:lastModifiedBy>admin</cp:lastModifiedBy>
  <cp:revision>41</cp:revision>
  <dcterms:created xsi:type="dcterms:W3CDTF">2018-09-10T16:40:06Z</dcterms:created>
  <dcterms:modified xsi:type="dcterms:W3CDTF">2021-03-01T11:12:53Z</dcterms:modified>
</cp:coreProperties>
</file>